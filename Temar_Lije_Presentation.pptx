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6583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548640" rIns="457200" rtlCol="0" anchor="ctr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rPr dirty="0"/>
              <a:t>FINAL PROJECT DEFENSE</a:t>
            </a:r>
          </a:p>
          <a:p>
            <a:pPr>
              <a:spcBef>
                <a:spcPts val="1400"/>
              </a:spcBef>
              <a:defRPr sz="3200" b="1">
                <a:solidFill>
                  <a:srgbClr val="312E81"/>
                </a:solidFill>
              </a:defRPr>
            </a:pPr>
            <a:r>
              <a:rPr dirty="0"/>
              <a:t>Temar Lije (</a:t>
            </a:r>
            <a:r>
              <a:rPr dirty="0" err="1"/>
              <a:t>ተማር</a:t>
            </a:r>
            <a:r>
              <a:rPr dirty="0"/>
              <a:t> ል</a:t>
            </a:r>
            <a:r>
              <a:rPr lang="am-ET" dirty="0"/>
              <a:t>ጄ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rPr dirty="0"/>
              <a:t>Next-Generation Real-Time Collaborative Learning Management System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rPr dirty="0"/>
              <a:t>Empowering Educators &amp; Students with Real-Time Study Groups, Timed Assessments, Audio Voice Notes &amp; Enterprise Cloud High Availability.</a:t>
            </a:r>
          </a:p>
          <a:p>
            <a:pPr>
              <a:spcBef>
                <a:spcPts val="2000"/>
              </a:spcBef>
              <a:defRPr sz="1100" b="1">
                <a:solidFill>
                  <a:srgbClr val="4F46E5"/>
                </a:solidFill>
              </a:defRPr>
            </a:pPr>
            <a:r>
              <a:rPr dirty="0"/>
              <a:t>🌐 Live on Azure: https://temar-lije.southafricanorth.cloudapp.azure.com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914400"/>
            <a:ext cx="3840480" cy="502920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548640" rIns="3657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SYSTEM HIGHLIGHTS</a:t>
            </a:r>
          </a:p>
          <a:p>
            <a:pPr>
              <a:spcBef>
                <a:spcPts val="1000"/>
              </a:spcBef>
              <a:defRPr sz="1200" b="1">
                <a:solidFill>
                  <a:srgbClr val="A5F3FC"/>
                </a:solidFill>
              </a:defRPr>
            </a:pPr>
            <a:r>
              <a:t>⚡ Real-Time Chat &amp; Sockets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Instant messaging &amp; voice note recordings</a:t>
            </a:r>
          </a:p>
          <a:p>
            <a:pPr>
              <a:spcBef>
                <a:spcPts val="1000"/>
              </a:spcBef>
              <a:defRPr sz="1200" b="1">
                <a:solidFill>
                  <a:srgbClr val="A5F3FC"/>
                </a:solidFill>
              </a:defRPr>
            </a:pPr>
            <a:r>
              <a:t>📝 Timed Quiz Engine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Live countdown timers &amp; automated grading</a:t>
            </a:r>
          </a:p>
          <a:p>
            <a:pPr>
              <a:spcBef>
                <a:spcPts val="1000"/>
              </a:spcBef>
              <a:defRPr sz="1200" b="1">
                <a:solidFill>
                  <a:srgbClr val="A5F3FC"/>
                </a:solidFill>
              </a:defRPr>
            </a:pPr>
            <a:r>
              <a:t>🔒 Strict RBAC Privacy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Teacher isolation from student study groups</a:t>
            </a:r>
          </a:p>
          <a:p>
            <a:pPr>
              <a:spcBef>
                <a:spcPts val="1000"/>
              </a:spcBef>
              <a:defRPr sz="1200" b="1">
                <a:solidFill>
                  <a:srgbClr val="A5F3FC"/>
                </a:solidFill>
              </a:defRPr>
            </a:pPr>
            <a:r>
              <a:t>☁️ Production Azure VM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Docker Compose, Nginx &amp; Let's Encrypt SSL</a:t>
            </a:r>
          </a:p>
          <a:p>
            <a:pPr>
              <a:spcBef>
                <a:spcPts val="1000"/>
              </a:spcBef>
              <a:defRPr sz="1200" b="1">
                <a:solidFill>
                  <a:srgbClr val="A5F3FC"/>
                </a:solidFill>
              </a:defRPr>
            </a:pPr>
            <a:r>
              <a:t>🔑 Google OAuth 2.0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Single Sign-On and JWT authentication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Introduction to Temar Lije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What is Temar Lije?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Temar Lije is an innovative, real-time educational management platform designed to streamline classroom management and foster interactive peer learning.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By integrating a responsive web dashboard with low-latency WebSocket communication, Temar Lije enables instantaneous peer-to-peer study sessions, timed assessment tracking, digital material distribution, and strict role-based privacy isolation between educators and student study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45920"/>
            <a:ext cx="4206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Core Ecosystem Pillars</a:t>
            </a:r>
          </a:p>
          <a:p>
            <a:pPr>
              <a:spcBef>
                <a:spcPts val="1000"/>
              </a:spcBef>
              <a:defRPr sz="1300" b="1">
                <a:solidFill>
                  <a:srgbClr val="312E81"/>
                </a:solidFill>
              </a:defRPr>
            </a:pPr>
            <a:r>
              <a:t>• Virtual Classrooms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Material distribution, slides, audio lectures &amp; assignments.</a:t>
            </a:r>
          </a:p>
          <a:p>
            <a:pPr>
              <a:spcBef>
                <a:spcPts val="1000"/>
              </a:spcBef>
              <a:defRPr sz="1300" b="1">
                <a:solidFill>
                  <a:srgbClr val="312E81"/>
                </a:solidFill>
              </a:defRPr>
            </a:pPr>
            <a:r>
              <a:t>• Real-Time Collaboration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Instant messaging, audio voice notes &amp; study groups.</a:t>
            </a:r>
          </a:p>
          <a:p>
            <a:pPr>
              <a:spcBef>
                <a:spcPts val="1000"/>
              </a:spcBef>
              <a:defRPr sz="1300" b="1">
                <a:solidFill>
                  <a:srgbClr val="312E81"/>
                </a:solidFill>
              </a:defRPr>
            </a:pPr>
            <a:r>
              <a:t>• Timed Quiz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Live countdown timers, auto-grading &amp; explanations.</a:t>
            </a:r>
          </a:p>
          <a:p>
            <a:pPr>
              <a:spcBef>
                <a:spcPts val="1000"/>
              </a:spcBef>
              <a:defRPr sz="1300" b="1">
                <a:solidFill>
                  <a:srgbClr val="312E81"/>
                </a:solidFill>
              </a:defRPr>
            </a:pPr>
            <a:r>
              <a:t>• Cloud Infrastructure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Multi-container Docker stack deployed on Microsoft Azure.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Statement of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Communication &amp; Grading Bottlenecks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❌ Fragmented Communication Channels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Students and educators rely on scattered chat apps, emails, and paper notes, causing lost announcements and low engagement.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❌ Manual Assessment &amp; Grading Overhead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Teachers spend excessive hours grading papers manually with zero real-time feedback for students.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Observed Impact in Schools</a:t>
            </a:r>
          </a:p>
          <a:p>
            <a:pPr>
              <a:spcBef>
                <a:spcPts val="1200"/>
              </a:spcBef>
              <a:defRPr sz="1400" b="1">
                <a:solidFill>
                  <a:srgbClr val="A5F3FC"/>
                </a:solidFill>
              </a:defRPr>
            </a:pPr>
            <a:r>
              <a:t>📉 70% Communication Drop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Students report missing assignment deadlines due to scattered communication.</a:t>
            </a:r>
          </a:p>
          <a:p>
            <a:pPr>
              <a:spcBef>
                <a:spcPts val="1200"/>
              </a:spcBef>
              <a:defRPr sz="1400" b="1">
                <a:solidFill>
                  <a:srgbClr val="A5F3FC"/>
                </a:solidFill>
              </a:defRPr>
            </a:pPr>
            <a:r>
              <a:t>⏳ 8+ Hours Wasted Weekly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Educators spend up to 8 hours every week creating and grading paper exams manually.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Statement of the Problem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Privacy &amp; Material Distribution Flaws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❌ Lack of Privacy in Student Study Groups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Traditional LMS systems fail to isolate private student study groups from public teacher view, preventing confidential peer discussions.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❌ Unstandardized Material Sharing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Lecture slides and audio recordings are scattered across untrusted links with broken permissions.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Platform Consequences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⚠️ Student Hesitation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Students feel uncomfortable asking peer questions when teachers are constantly monitoring casual study channels.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📁 Lost Resources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No central repository for streaming audio lectures and assignment submissions.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Statement of the Problem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Operational Friction &amp; Oversight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❌ Attendance Tracking Friction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Manual paper attendance in hybrid classes wastes valuable lecture time and allows proxy check-ins.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❌ Limited Real-Time Oversight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Administrators and teachers lack a unified dashboard to monitor student participation and quiz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The Solution Needed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✅ Digital Verification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Automated attendance tracking, timed quiz submissions, and real-time live presence.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✅ Consolidated Dashboard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One-click classroom management, material distribution, and gradebook export.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⚡  1. Real-Time Collaboration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Enable zero-latency messaging, built-in audio voice notes, and real-time member presence.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📝  2. Automated Assessment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Implement timed quizzes with live countdown timers, auto-grading, and instant score breakdowns.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🔒  3. Privacy &amp; Security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Enforce strict database-level RBAC isolating teachers from confidential student peer groups.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☁️  4. Enterprise Cloud Deployment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Deliver 99.9% uptime with Docker multi-container stack and Let's Encrypt HTTPS on Azure.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Key System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💬  Real-Time Chat &amp; Voice Notes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Instant WebSocket messaging, audio voice recording (`.webm` / `.mp3`), and topic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📚  Virtual Classroom Hub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Material uploads (PDFs, slides), audio streaming, assignments, and unique join codes.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⏱️  Interactive Timed Quizzes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Countdown timer, question navigator palette, one-attempt enforcement, and CSV grade export.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🔐  Role-Based Access &amp; SSO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Strict Teacher / Student boundary enforcement, Google OAuth 2.0 sign-in, and Dark Mode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System Users &amp; Stakeholders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👨‍🏫</a:t>
            </a:r>
            <a:br/>
            <a:r>
              <a:t>Teachers / Educators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• Create &amp; delete classrooms</a:t>
            </a:r>
            <a:br/>
            <a:r>
              <a:t>• Upload lecture materials &amp; audio</a:t>
            </a:r>
            <a:br/>
            <a:r>
              <a:t>• Build timed quizzes &amp; grade assignments</a:t>
            </a:r>
            <a:br/>
            <a:r>
              <a:t>• Remove students with account revocation</a:t>
            </a:r>
            <a:br/>
            <a:r>
              <a:t>• Post official announcements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👩‍🎓</a:t>
            </a:r>
            <a:br/>
            <a:r>
              <a:t>Students / Learners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• Join classrooms via invite code</a:t>
            </a:r>
            <a:br/>
            <a:r>
              <a:t>• Form confidential peer study groups</a:t>
            </a:r>
            <a:br/>
            <a:r>
              <a:t>• Record and share audio voice notes</a:t>
            </a:r>
            <a:br/>
            <a:r>
              <a:t>• Take live timed quizzes with auto-grading</a:t>
            </a:r>
            <a:br/>
            <a:r>
              <a:t>• Submit homework assignments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🛠️</a:t>
            </a:r>
            <a:br/>
            <a:r>
              <a:t>DevOps &amp; Administrators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• Monitor Docker containers &amp; Azure VM</a:t>
            </a:r>
            <a:br/>
            <a:r>
              <a:t>• Maintain PostgreSQL volume persistence</a:t>
            </a:r>
            <a:br/>
            <a:r>
              <a:t>• Automate Let's Encrypt SSL renewals</a:t>
            </a:r>
            <a:br/>
            <a:r>
              <a:t>• Enforce CORS whitelists &amp; OAuth security</a:t>
            </a:r>
            <a:br/>
            <a:r>
              <a:t>• Ensure 99.9% system uptime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Technical Limitations &amp;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Connectivity &amp; Media Bandwidth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🌐 Dependency on Internet Connectivity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Real-time WebSocket events and voice streaming require an active internet connection. Offline actions are queued upon reconnect.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📶 Media Streaming Bandwidth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Live audio recordings and video study buddy rooms depend on available client network bandwidth for high-definition streaming.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Mitigations Implemented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⚡ Lightweight Payloads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Compressed audio blobs (`.webm`) and lightweight JSON WebSocket payloads minimize bandwidth usage.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🔄 Auto-Reconnect Protocol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Socket.io automatic exponential backoff reconnection ensures instant recovery when connection drops.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Technical Limitations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Hardware &amp; Cloud OAuth Boundaries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🎤 Browser Hardware Permissions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Audio voice recording and video streams require explicit user browser permission for microphone and camera access.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🔒 Cloud Subdomain OAuth Verification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Google Cloud OAuth displays unverified warning screens on free shared cloud subdomains (`*.cloudapp.azure.com`) until custom domain DNS verification is completed.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Operational Guidance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✅ Transparent Prompts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Clear in-app permission modals guide users to enable microphone access with 1 click.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✅ Multi-Domain Support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Nginx configured for both Azure cloud domain and custom domains (`temarlije.mooo.com`).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Development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⚡</a:t>
            </a:r>
            <a:br/>
            <a:r>
              <a:t>🔄 Iterative Sprints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Bi-weekly development cycles focusing on real-time sockets, TypeScript migration, and mobile responsiveness.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🛡️</a:t>
            </a:r>
            <a:br/>
            <a:r>
              <a:t>🧪 Continuous Validation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Rigorous build pipelines ensuring 0 compilation errors across NestJS and Vite builds before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☁️</a:t>
            </a:r>
            <a:br/>
            <a:r>
              <a:t>🚀 CI/CD &amp; Deployments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Automated Docker Compose builds and zero-downtime rolling container updates on Microsoft Azure.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12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Core Capabilities Implemented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🔑 User Authentication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Email/Password registration, password reset, and Google OAuth 2.0 Single Sign-On.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📚 Classroom Management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Classroom creation, student enrollment via code, and cascading classroom deletion.</a:t>
            </a:r>
          </a:p>
          <a:p>
            <a:pPr>
              <a:spcBef>
                <a:spcPts val="1200"/>
              </a:spcBef>
              <a:defRPr sz="1400" b="1">
                <a:solidFill>
                  <a:srgbClr val="4F46E5"/>
                </a:solidFill>
              </a:defRPr>
            </a:pPr>
            <a:r>
              <a:t>💬 Real-Time Messaging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Bidirectional WebSocket chat, audio voice notes, and topic subchannels.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Assessment &amp; Administration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📝 Timed Quiz Engine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Live countdown timer, question navigator palette, auto-grading, and CSV export.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📁 Material Distribution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Secure PDF, slide uploads, and audio streaming with range header support.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🚫 Roster Management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Teacher removal of students with complete account revocation.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13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⚡  ⚡ Performance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Sub-50ms WebSocket broadcast latency; fast REST response times (&lt;100ms).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🔒  🛡️ Security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Bcrypt password hashing, HTTP-only JWT cookies, TLSv1.3 SSL, and RBAC guards.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🎨  📱 Usability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Mobile-first responsive design with intuitive dark/light theme switching.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☁️  🔄 Reliability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99.9% uptime with Docker container healthcheck auto-recovery.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14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🧠</a:t>
            </a:r>
            <a:br/>
            <a:r>
              <a:t>🤖 AI Lecture Assistant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Automated quiz generation and flashcard extraction from uploaded lecture slides and transcripts.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🗣️</a:t>
            </a:r>
            <a:br/>
            <a:r>
              <a:t>🌍 Multilingual Localization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Complete user interface translations for Amharic, Afaan Oromo, and Tigrinya.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📲</a:t>
            </a:r>
            <a:br/>
            <a:r>
              <a:t>📱 Native Mobile Apps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Dedicated React Native &amp; Flutter mobile applications with offline material storage.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Testing &amp; Evaluation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15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🧪</a:t>
            </a:r>
            <a:br/>
            <a:r>
              <a:t>✅ 100% Core Validation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All functional tests passed across authentication, WebSocket rooms, quiz timer submissions, and RBAC privacy.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🛡️</a:t>
            </a:r>
            <a:br/>
            <a:r>
              <a:t>⚡ 0 TypeScript Errors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Clean `nest build` compilation across 100% of backend controllers, services, and gateways.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🚀</a:t>
            </a:r>
            <a:br/>
            <a:r>
              <a:t>☁️ 99.9% Production Uptime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Verified operational stability on Microsoft Azure Linux VM with continuous Docker container health.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16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⚛️  Frontend Tier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React JS, Vite, Vanilla CSS Modules, Socket.io Client, Web Audio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🐱  Backend API Tier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NestJS (100% TypeScript), Node.js 20, Prisma ORM, Passport.js, JWT.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🐘  Database Tier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PostgreSQL 16 Alpine with Docker named volume persistence (`pgdata`).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☁️  DevOps &amp; Cloud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Docker Compose, Nginx Reverse Proxy, Let's Encrypt SSL/TLS, Microsoft Azure Linux VM.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UI Architecture: Dashboard &amp; Classroom 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17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📚 Classroom Grid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Overview of enrolled courses, instructor badges, member counters, and quick-action join/create buttons.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📁 Materials Hub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Organized lecture repository supporting PDFs, slides, and streaming audio files with range headers.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📋 Assignments Portal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Submission upload interface with due date countdowns and teacher grading dashboards.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UI Architecture: Real-Time Chat &amp;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18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💬 Instant Messaging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Zero-latency WebSocket broadcasts (`newMessage`) correlated by group and classroom rooms.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🎙️ Audio Voice Notes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Built-in browser `MediaRecorder` audio recording with visual playback waves and streaming upload.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🟢 Live Presence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Real-time online status green dots and typing indicator notifications across connected peers.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UI Architecture: Timed Quiz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19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⏱️ Countdown Timer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Live countdown banner with automatic attempt submission when time expires.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🧭 Question Navigator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Quick-jump navigator palette allowing students to flag, review, and answer questions.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📊 Score Breakdown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Detailed results display with answer explanations and teacher CSV gradebook export.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Key Technical Improvements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20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⚡  Real-Time WebSockets &amp; Voice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Engineered bidirectional socket broadcasting and custom voice note recording.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🔒  Strict Study Group Privacy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Guaranteed student peer group confidentiality by excluding teachers from peer discussions.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📱  Mobile UI/UX &amp; Pill Navigation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Eliminated sidebar collisions on mobile viewports with responsive navigation pills.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☁️  Azure Cloud Deployment &amp; SSL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Orchestrated multi-container Docker Compose stack with Let's Encrypt HTTPS encryption.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Deep Dive 1: Real-Time Chat &amp; Voice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21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⚙️ Gateway Architecture</a:t>
            </a:r>
          </a:p>
          <a:p>
            <a:pPr>
              <a:spcBef>
                <a:spcPts val="800"/>
              </a:spcBef>
              <a:defRPr sz="1300" b="1">
                <a:solidFill>
                  <a:srgbClr val="4F46E5"/>
                </a:solidFill>
              </a:defRPr>
            </a:pPr>
            <a:r>
              <a:t>• @SubscribeMessage('joinRoom')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Authenticates user JWT and subscribes socket to `room_{groupId}`.</a:t>
            </a:r>
          </a:p>
          <a:p>
            <a:pPr>
              <a:spcBef>
                <a:spcPts val="800"/>
              </a:spcBef>
              <a:defRPr sz="1300" b="1">
                <a:solidFill>
                  <a:srgbClr val="4F46E5"/>
                </a:solidFill>
              </a:defRPr>
            </a:pPr>
            <a:r>
              <a:t>• @SubscribeMessage('sendMessage')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Persists message in PostgreSQL and broadcasts `newMessage` to room.</a:t>
            </a:r>
          </a:p>
          <a:p>
            <a:pPr>
              <a:spcBef>
                <a:spcPts val="800"/>
              </a:spcBef>
              <a:defRPr sz="1300" b="1">
                <a:solidFill>
                  <a:srgbClr val="4F46E5"/>
                </a:solidFill>
              </a:defRPr>
            </a:pPr>
            <a:r>
              <a:t>• Built-in Media Recorder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Captures voice notes in browser, uploads via REST, and broadcasts over sockets.</a:t>
            </a:r>
          </a:p>
          <a:p>
            <a:pPr>
              <a:spcBef>
                <a:spcPts val="800"/>
              </a:spcBef>
              <a:defRPr sz="1300" b="1">
                <a:solidFill>
                  <a:srgbClr val="4F46E5"/>
                </a:solidFill>
              </a:defRPr>
            </a:pPr>
            <a:r>
              <a:t>• Nginx WebSocket Upgrades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Configured `Upgrade $http_upgrade` and `86400s` keep-alive in reverse proxy.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000">
                <a:solidFill>
                  <a:srgbClr val="38BDF8"/>
                </a:solidFill>
                <a:latin typeface="Consolas"/>
              </a:defRPr>
            </a:pPr>
            <a:r>
              <a:t>// chat.gateway.ts</a:t>
            </a:r>
            <a:br/>
            <a:r>
              <a:t>@WebSocketGateway({ cors: { origin: '*' } })</a:t>
            </a:r>
            <a:br/>
            <a:r>
              <a:t>export class ChatGateway {</a:t>
            </a:r>
            <a:br/>
            <a:r>
              <a:t>  @SubscribeMessage('sendMessage')</a:t>
            </a:r>
            <a:br/>
            <a:r>
              <a:t>  async handleMessage(</a:t>
            </a:r>
            <a:br/>
            <a:r>
              <a:t>    @ConnectedSocket() client,</a:t>
            </a:r>
            <a:br/>
            <a:r>
              <a:t>    @MessageBody() data</a:t>
            </a:r>
            <a:br/>
            <a:r>
              <a:t>  ) {</a:t>
            </a:r>
            <a:br/>
            <a:r>
              <a:t>    await this.chatService.validateAccess(</a:t>
            </a:r>
            <a:br/>
            <a:r>
              <a:t>      client.user.id, data.groupId</a:t>
            </a:r>
            <a:br/>
            <a:r>
              <a:t>    );</a:t>
            </a:r>
            <a:br/>
            <a:r>
              <a:t>    const msg = await this.chatService.saveMessage(data);</a:t>
            </a:r>
            <a:br/>
            <a:r>
              <a:t>    this.server.to(`room_${data.groupId}`).emit(</a:t>
            </a:r>
            <a:br/>
            <a:r>
              <a:t>      'newMessage', msg</a:t>
            </a:r>
            <a:br/>
            <a:r>
              <a:t>    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Deep Dive 2: RBAC Security &amp; Authority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22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🛡️</a:t>
            </a:r>
            <a:br/>
            <a:r>
              <a:t>🔒 Peer Privacy Guard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`getGroups` and `canUserAccessRoom` strictly exclude teachers (`role === 'TEACHER'`) from student peer study groups to maintain confidential peer collaboration.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⚡</a:t>
            </a:r>
            <a:br/>
            <a:r>
              <a:t>🗑️ Cascade Deletion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`DELETE /classrooms/:id` verifies teacher ownership and cleanly deletes all materials, quizzes, and messages in a single transaction.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365760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👑</a:t>
            </a:r>
            <a:br/>
            <a:r>
              <a:t>🚫 Account Revocation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Removing a student unlinks all classroom memberships and permanently deletes the student account.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TEMAR LIJE •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2E81"/>
                </a:solidFill>
              </a:defRPr>
            </a:pPr>
            <a:r>
              <a:t>Deep Dive 3: DevOps &amp; Cloud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20" y="457200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23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050">
                <a:solidFill>
                  <a:srgbClr val="A5F3FC"/>
                </a:solidFill>
                <a:latin typeface="Consolas"/>
              </a:defRPr>
            </a:pPr>
            <a:r>
              <a:t># Production Docker Architecture (docker-compose.yml)</a:t>
            </a:r>
            <a:br/>
            <a:r>
              <a:t>version: '3.8'</a:t>
            </a:r>
            <a:br/>
            <a:r>
              <a:t>services:</a:t>
            </a:r>
            <a:br/>
            <a:r>
              <a:t>  db:</a:t>
            </a:r>
            <a:br/>
            <a:r>
              <a:t>    image: postgres:16-alpine</a:t>
            </a:r>
            <a:br/>
            <a:r>
              <a:t>    volumes:</a:t>
            </a:r>
            <a:br/>
            <a:r>
              <a:t>      - pgdata:/var/lib/postgresql/data</a:t>
            </a:r>
            <a:br/>
            <a:r>
              <a:t>      - ./Database/temar_lije.sql:/docker-entrypoint-initdb.d/01_init.sql:ro</a:t>
            </a:r>
            <a:br/>
            <a:br/>
            <a:r>
              <a:t>  backend:</a:t>
            </a:r>
            <a:br/>
            <a:r>
              <a:t>    image: fanuelg/temar_backend:latest</a:t>
            </a:r>
            <a:br/>
            <a:r>
              <a:t>    environment:</a:t>
            </a:r>
            <a:br/>
            <a:r>
              <a:t>      - PORT=3000</a:t>
            </a:r>
            <a:br/>
            <a:r>
              <a:t>      - DATABASE_URL=postgresql://postgres:postgres@db:5432/temar_lije</a:t>
            </a:r>
            <a:br/>
            <a:r>
              <a:t>      - FRONTEND_URL=https://temar-lije.southafricanorth.cloudapp.azure.com</a:t>
            </a:r>
            <a:br/>
            <a:br/>
            <a:r>
              <a:t>  frontend:</a:t>
            </a:r>
            <a:br/>
            <a:r>
              <a:t>    image: fanuelg/temar_frontend:latest</a:t>
            </a:r>
            <a:br/>
            <a:r>
              <a:t>    ports:</a:t>
            </a:r>
            <a:br/>
            <a:r>
              <a:t>      - '80:80'</a:t>
            </a:r>
            <a:br/>
            <a:r>
              <a:t>      - '443:443'</a:t>
            </a:r>
            <a:br/>
            <a:r>
              <a:t>    volumes:</a:t>
            </a:r>
            <a:br/>
            <a:r>
              <a:t>      - /etc/letsencrypt:/etc/letsencrypt:ro  # Production SSL Certificates</a:t>
            </a:r>
            <a:br/>
            <a:r>
              <a:t>    depends_on:</a:t>
            </a:r>
            <a:br/>
            <a:r>
              <a:t>      - backend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1248" y="1088136"/>
            <a:ext cx="944849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548640" rIns="548640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SYSTEM OPERATIONAL • READY FOR PRODUCTION</a:t>
            </a:r>
          </a:p>
          <a:p>
            <a:pPr algn="ctr">
              <a:spcBef>
                <a:spcPts val="1000"/>
              </a:spcBef>
              <a:defRPr sz="2800" b="1">
                <a:solidFill>
                  <a:srgbClr val="312E81"/>
                </a:solidFill>
              </a:defRPr>
            </a:pPr>
            <a:r>
              <a:t>Conclusion &amp; Live Demonstration</a:t>
            </a:r>
          </a:p>
          <a:p>
            <a:pPr algn="ctr">
              <a:spcBef>
                <a:spcPts val="1400"/>
              </a:spcBef>
              <a:defRPr sz="1400">
                <a:solidFill>
                  <a:srgbClr val="64748B"/>
                </a:solidFill>
              </a:defRPr>
            </a:pPr>
            <a:r>
              <a:t>Temar Lije successfully bridges the gap between traditional learning and modern real-time collaboration. Delivering a secure, scalable, and intuitive platform for students and educators.</a:t>
            </a:r>
          </a:p>
          <a:p>
            <a:pPr algn="ctr">
              <a:spcBef>
                <a:spcPts val="2000"/>
              </a:spcBef>
              <a:defRPr sz="1300" b="1">
                <a:solidFill>
                  <a:srgbClr val="4F46E5"/>
                </a:solidFill>
              </a:defRPr>
            </a:pPr>
            <a:r>
              <a:t>🌐 Production Host: https://temar-lije.southafricanorth.cloudapp.azure.com</a:t>
            </a:r>
            <a:br/>
            <a:r>
              <a:t>🔗 Custom Domain: https://temarlije.mooo.com</a:t>
            </a:r>
          </a:p>
          <a:p>
            <a:pPr algn="ctr">
              <a:spcBef>
                <a:spcPts val="2400"/>
              </a:spcBef>
              <a:defRPr sz="2000" b="1">
                <a:solidFill>
                  <a:srgbClr val="312E81"/>
                </a:solidFill>
              </a:defRPr>
            </a:pPr>
            <a:r>
              <a:t>Thank You! Questions &amp; Live Demo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2663</TotalTime>
  <Words>2408</Words>
  <Application>Microsoft Office PowerPoint</Application>
  <PresentationFormat>Widescreen</PresentationFormat>
  <Paragraphs>262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Fanuel g</cp:lastModifiedBy>
  <cp:revision>2</cp:revision>
  <dcterms:created xsi:type="dcterms:W3CDTF">2013-01-27T09:14:16Z</dcterms:created>
  <dcterms:modified xsi:type="dcterms:W3CDTF">2026-08-25T05:57:10Z</dcterms:modified>
  <cp:category/>
</cp:coreProperties>
</file>